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Kanna A" userId="d5ba561437b77262" providerId="LiveId" clId="{AB7B5336-799E-4C51-9C51-42C58E340971}"/>
    <pc:docChg chg="modSld">
      <pc:chgData name="Harish Kanna A" userId="d5ba561437b77262" providerId="LiveId" clId="{AB7B5336-799E-4C51-9C51-42C58E340971}" dt="2026-10-26T21:53:39.631" v="2" actId="1036"/>
      <pc:docMkLst>
        <pc:docMk/>
      </pc:docMkLst>
      <pc:sldChg chg="modSp mod">
        <pc:chgData name="Harish Kanna A" userId="d5ba561437b77262" providerId="LiveId" clId="{AB7B5336-799E-4C51-9C51-42C58E340971}" dt="2026-10-26T21:53:39.631" v="2" actId="1036"/>
        <pc:sldMkLst>
          <pc:docMk/>
          <pc:sldMk cId="0" sldId="256"/>
        </pc:sldMkLst>
        <pc:spChg chg="mod">
          <ac:chgData name="Harish Kanna A" userId="d5ba561437b77262" providerId="LiveId" clId="{AB7B5336-799E-4C51-9C51-42C58E340971}" dt="2026-10-26T21:53:39.631" v="2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Harish Kanna A" userId="d5ba561437b77262" providerId="LiveId" clId="{AB7B5336-799E-4C51-9C51-42C58E340971}" dt="2026-10-26T21:53:34.214" v="0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98448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DATA STRUCTURES &amp; ALGORITHMS CASE STUDY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Dynamic Traffic Congestion Analytics</a:t>
            </a:r>
            <a:br/>
            <a:r>
              <a:t>Using Fenwick Tree (Binary Indexed Tree)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High-Performance Sub-Corridor Range Aggregation &amp; Point Inflow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103327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42519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PROJECT &amp; EVALUATION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4680" y="46075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Student Team: [Student Name(s) / Team Member Placeholders]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Academic Profile: 2nd Year B.Tech Computer Science &amp; Engineering | Semester Evaluation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Evaluation Faculty: [Faculty / Evaluator Name Placeholder] | Dept. of CSE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System Implementation: FlowGrid Traffic Intelligence (C++ Core Engine &amp; Modern Web Dashboard)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Dynamic Urban Traffic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The Urban Congestion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Metropolitan road corridors experience high volatility in vehicle density across adjoining segments.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Sensors, toll plazas, and inductive loops continuously emit real-time vehicle flow counts.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Traffic management authorities must constantly monitor aggregate congestion over flexible sub-corridors [L..R].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Threshold violations require immediate detection to trigger adaptive signal timing and diversion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Algorithmic Inefficiency Bottlenecks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Naive Array Approach: Point updates take O(1), but range queries require O(n) linear scans. Overwhelmed under thousands of queries.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Static Prefix Sum Array: Range queries take O(1), but every single update cascades across the remaining array taking O(n). Inefficient for live streams.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The Dilemma: Real-time intelligent transportation requires a balanced data structure that handles both dynamic updates and range queries sub-linearly.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Critical Requirement: Standardized 1-based indexing with rigorous boundary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1. Core DSA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Design and verify a one-based Fenwick Tree (BIT) in standard C++ with zero menu-driven dependency, executing automated demonstration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2. Dual-Array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Maintain clean architectural separation between raw traffic counts array (trafficCounts[1..n]) and the cumulative BIT array (bit[1..n]).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3. Dynamic Point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Implement O(log n) point update and setCount operations to dynamically handle traffic surges, bottlenecks, and sensor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4. Real-Time Thresholding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Provide O(log n) range sum aggregation (rangeSum(L, R)) to classify corridor status as NORMAL or POTENTIALLY CONGESTED against threshold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Proposed Solution: FlowGrid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System Pipeline &amp; Operational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Layer 1: Sensor Inflow Array — Original vehicle counts stored in an independent vector trafficCounts[1..n]. Non-negative validation enforced.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Layer 2: Fenwick Tree (BIT) Engine — Constructed in O(n) time. Implements bit[i] storing prefix intervals determined by the lowbit(i) = i &amp; (-i) bitwise operator.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Layer 3: Analytical Query Layer — Corridor range query [L..R] computed in O(log n) time by evaluating prefixSum(R) - prefixSum(L - 1).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Layer 4: Congestion Classifier — Compares aggregate vehicle volume against dynamic threshold. Emits NORMAL (&lt;= threshold) or POTENTIALLY CONGESTED (&gt; threshold).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Layer 5: Presentation &amp; Dashboard — Standard automated C++ console benchmark paired with a client-side visual dashboard (FlowGrid) for intuitive demonstration.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Fenwick Tree? Comparative Data Structure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Point Update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Prefix Sum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Range Sum [L..R]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Auxiliary Space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Naive Array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Prefix Sum Array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Segment Tree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O(4n) (High Overhead)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Fenwick Tree (BIT)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O(n) (Minimal &amp; Cache-Friendly)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Key Takeaway: The Fenwick Tree achieves the optimal Pareto frontier for real-time traffic systems — balancing O(log n) update and query speeds with strictly O(n) space and zero tree-pointer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Fenwick Tree Representation &amp; The lowbit()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The lowbit(x) Primitive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Mathematical Formula: lowbit(x) = x &amp; (-x)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Two's Complement Property: -x = (~x) + 1. Inverting bits and adding 1 isolates the least significant 1-bit.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Interval of Responsibility: Index i stores the sum of elements in the range [i - lowbit(i) + 1 .. i].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Length of Covered Range: Exactly lowbit(i) elements.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Even vs Odd Indices: Odd indices have lowbit(i) = 1 (leaves storing single elements). Powers of 2 cover all preceding segments [1..i].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1-Based Indexing Mapping (n = 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bit[1] : 0001_2 | lowbit=1 | Interval [1..1] | Covers Seg 1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bit[2] : 0010_2 | lowbit=2 | Interval [1..2] | Covers Segs 1..2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bit[3] : 0011_2 | lowbit=1 | Interval [3..3] | Covers Seg 3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bit[4] : 0100_2 | lowbit=4 | Interval [1..4] | Covers Segs 1..4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bit[5] : 0101_2 | lowbit=1 | Interval [5..5] | Covers Seg 5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bit[6] : 0110_2 | lowbit=2 | Interval [5..6] | Covers Segs 5..6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bit[7] : 0111_2 | lowbit=1 | Interval [7..7] | Covers Seg 7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bit[8] : 1000_2 | lowbit=8 | Interval [1..8] | Covers Segs 1..8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Dynamic Point Update Operation: O(log 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Algorithm: update(idx, delta)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Goal: Add delta to segment idx and propagate the change to all responsible BIT intervals.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Loop Mechanism: Start at i = idx; while i &lt;= n, add delta to bit[i] and advance to parent: i += lowbit(i).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Tree Ascent: Adding lowbit(i) flips the lowest set bit and carries upward, visiting strictly the ancestor nodes in the implicit tree.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Time Complexity: At most log2(n) iterations -&gt; O(log n).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setCount(idx, newCount): Computes delta = newCount - trafficCounts[idx], updates the raw array, then invokes update(idx, delta).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Trace: Updating Segment 5 by delta = +14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1. Start at i = 5 (0101_2):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 lowbit(5) = 1. Add +14 to bit[5] (20 -&gt; 34).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 Next index: 5 + 1 = 6.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2. Step to i = 6 (0110_2):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 lowbit(6) = 2. Add +14 to bit[6] (25 -&gt; 39).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 Next index: 6 + 2 = 8.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3. Step to i = 8 (1000_2):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 lowbit(8) = 8. Add +14 to bit[8] (87 -&gt; 101).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 Next index: 8 + 8 = 16 &gt; 8 (Termination).</a:t>
            </a:r>
          </a:p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</a:defRPr>
            </a:pPr>
            <a:r>
              <a:t>Total Node Updates: Only 3 nodes touched (5, 6, 8) out of 8!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Prefix Sum &amp; Range Sum Aggregation: O(log 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Prefix Sum: prefixSum(idx)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Goal: Compute total traffic from segment 1 to idx: sum(traffic[1..idx]).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Loop Mechanism: Start at i = idx; while i &gt; 0, accumulate bit[i] into sum, and step to left disjoint interval: i -= lowbit(i).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Binary Decomposition: Each step strips the lowest set bit from i, decomposing the prefix into at most log2(n) pre-calculated canonical sub-intervals.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Time Complexity: O(log n) addition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Corridor Range Sum: rangeSum(L, 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Fundamental Principle: Range sum equals difference between two prefix sums:</a:t>
            </a:r>
          </a:p>
          <a:p>
            <a:pPr>
              <a:spcAft>
                <a:spcPts val="600"/>
              </a:spcAft>
              <a:defRPr sz="1200">
                <a:solidFill>
                  <a:srgbClr val="06B6D4"/>
                </a:solidFill>
              </a:defRPr>
            </a:pPr>
            <a:r>
              <a:t>rangeSum(L, R) = prefixSum(R) - prefixSum(L - 1)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Example on Corridor [3..6]: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prefixSum(6) = bit[6] + bit[4] = 25 + 43 = 68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prefixSum(2) = bit[2] = 19</a:t>
            </a:r>
          </a:p>
          <a:p>
            <a:pPr>
              <a:spcAft>
                <a:spcPts val="600"/>
              </a:spcAft>
              <a:defRPr sz="1200">
                <a:solidFill>
                  <a:srgbClr val="06B6D4"/>
                </a:solidFill>
              </a:defRPr>
            </a:pPr>
            <a:r>
              <a:t>  rangeSum(3, 6) = 68 - 19 = 49 vehicles.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Safety Validation: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Verify: 1 &lt;= L &lt;= R &lt;= n; returns error code (-1) if bounds or ordering violated.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Worked Example: Step-by-Step Numerical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Phase 1: Initial State &amp; Query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Initial Counts: [12, 7, 15, 9, 20, 5, 11, 8]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Constructed BIT Array (1 to 8):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[12, 19, 15, 43, 20, 25, 11, 87]</a:t>
            </a:r>
          </a:p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</a:defRPr>
            </a:pPr>
            <a:r>
              <a:t>Total Network Traffic: prefixSum(8) = 87 [VERIFIED]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Corridor Query [3..6] (Threshold = 55):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prefixSum(6) = bit[6] + bit[4] = 25 + 43 = 68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prefixSum(2) = bit[2] = 19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Volume = 68 - 19 = 49 vehicles.</a:t>
            </a:r>
          </a:p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</a:defRPr>
            </a:pPr>
            <a:r>
              <a:t>Classification: 49 &lt;= 55 -&gt; NORMAL [VERIFIED]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Phase 2: Surge Update &amp; Query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Point Update: Segment 5 updated from 20 to 34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Delta = 34 - 20 = +14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Propagated Indices: bit[5], bit[6], bit[8]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Updated BIT Array (1 to 8):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[12, 19, 15, 43, 34, 39, 11, 101]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Corridor Re-Query [3..6] (Threshold = 55):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prefixSum(6) = bit[6] + bit[4] = 39 + 43 = 82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prefixSum(2) = bit[2] = 19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Volume = 82 - 19 = 63 vehicles.</a:t>
            </a:r>
          </a:p>
          <a:p>
            <a:pPr>
              <a:spcAft>
                <a:spcPts val="400"/>
              </a:spcAft>
              <a:defRPr sz="1100">
                <a:solidFill>
                  <a:srgbClr val="EF4444"/>
                </a:solidFill>
              </a:defRPr>
            </a:pPr>
            <a:r>
              <a:t>Classification: 63 &gt; 55 -&gt; POTENTIALLY CONGESTED [VERIFIED]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FlowGrid — Modern Traffic Intelligence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Interactive Client-Side Web Application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Zero Backend Dependency: Engineered with standard HTML5, modern CSS3, and vanilla ES6 JavaScript. Runs instantly in any standard web browser.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Dynamic KPI Summary Cards: Live metrics displaying total network volume (prefixSum(8)), active corridor density, and dynamic threshold state.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Interactive Segment Cards: Visual road cards for Segments 1 to 8 showing current traffic volume, corridor naming, and vehicle density progress meters.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Real-Time Fenwick Tree Inspector: Comprehensive table detailing 1-based index, binary representation, lowbit(i), covered intervals, formulas, and stored values.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Traversed Node Highlighting: Visual highlights indicating exactly which BIT tree ancestors are updated during point updates or prefix queries.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Audited Execution Log: Chronological audit trail recording all initialization, update, range query, and threshold classification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Algorithmic Complexity &amp; Theoretical Proofs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Time &amp; Space Bounds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Point Update (update / setCount): O(log 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Maximum number of set bits in integer n is floor(log2(n)) + 1.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Each step adds lowbit(i), strictly moving to higher powers of 2.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Prefix Sum Query (prefixSum): O(log 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Each step strips the lowest set bit from index i via i -= lowbit(i).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Maximum loop iterations &lt;= log2(n).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Range Sum Query (rangeSum): O(log 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Evaluates two prefix sums: 2 * O(log n) = O(log 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Fenwick Tree Construction: O(n)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Linear forward-propagation builds tree in O(n) without n * log n overhead.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Space Complexity: O(n) contiguous array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Practical Hardware &amp; Cache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Contiguous Memory Locality: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Unlike pointer-based Segment Trees or AVL trees that incur frequent CPU cache misses, Fenwick Trees live inside a single flat array.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Bitwise Hardware Acceleration: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The core index transitions i += (i &amp; -i) compile to single-cycle assembly instructions (BLSI, AND, NEG), making it exceptionally fast on modern CPUs.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Minimal Memory Footprint: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Requires only (n + 1) integer slots compared to 4n for Segment Trees.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Ideal for Embedded Traffic Controllers: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Low memory requirements allow deployment on roadside IoT microcontrollers.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Empirical Testing &amp; Rigorous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Test Matrix &amp; Actual Execution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Case 1 (O(n) Build &amp; Initial BIT): Initial traffic array [12, 7, 15, 9, 20, 5, 11, 8] -&gt; BIT: [12, 19, 15, 43, 20, 25, 11, 87]. Prefix total = 87. -&gt; PASSED [100% Match]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Case 2 (Baseline Range Query [3..6]): Query sum returned exactly 49. Evaluated against threshold 55 -&gt; Classified as NORMAL. -&gt; PASSED [100% Match]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Case 3 (Dynamic Point Update Seg 5): Segment 5 updated from 20 to 34 (delta +14). BIT: [12, 19, 15, 43, 34, 39, 11, 101]. -&gt; PASSED [100% Match]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Case 4 (Congestion Re-Query [3..6]): Corridor volume evaluated to 63 (&gt; 55) -&gt; Classified as POTENTIALLY CONGESTED. -&gt; PASSED [100% Match]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Case 5 (Edge Case: Single Segment): rangeSum(5, 5) evaluated to 34, matching updated point count exactly. -&gt; PASSED [100% Match]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Case 6 (Zero Traffic &amp; Inverted Bounds): setCount(1, 0) updated successfully. Inverted range [6..3] and out-of-bounds indices rejected gracefully. -&gt; PASSED [100% Match]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Case 7 (Threshold Boundary Equality): When volume equals threshold (63 == 63), classified as NORMAL (condition: volume &gt; threshold). -&gt; PASSED [100% Match]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Limitations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Current System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Linear Grid Topology: Current 1D Fenwick Tree assumes linear sequential road corridors. Real-world metropolitan networks feature complex graph topologies and intersections.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Static Segment Count: Fixed n array size. Inserting or deleting road segments dynamically requires array reallocation.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Single-Dimension Metric: Monitors aggregate vehicle count only, without factoring speed, vehicle classification (trucks vs cars), or weather conditions.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Point Update / Range Query Asymmetry: While point updates are fast, range updates (adding delta to an entire range) require dual-tree difference encoding.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Future Engineering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2D Fenwick Tree Extension: Extend data structure to a 2D BIT for spatial grid monitoring (intersections and multi-lane urban grids) in O(log^2 n) time.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Dual-Tree Range Update Support: Incorporate two BITs to support O(log n) range updates and O(log n) range queries simultaneously.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Machine Learning Inflow Forecasting: Integrate lightweight predictive models to anticipate congestion thresholds 15 minutes before physical gridlock occurs.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WebSocket Real-Time Sensor Telemetry: Connect edge IoT sensors via live WebSockets directly into the FlowGrid analytics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Evaluation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Key Takeaways &amp; Evaluation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✓ Non-Menu-Driven Automated Execution: Both the C++ core and Web dashboard execute robust, automated verification sequences with zero fragile menu prompts.</a:t>
            </a:r>
          </a:p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✓ Rigorous Algorithmic Precision: All expected values (Initial BIT [12, 19, 15, 43, 20, 25, 11, 87], rangeSum = 49 NORMAL, Updated BIT [12, 19, 15, 43, 34, 39, 11, 101], rangeSum = 63 POTENTIALLY CONGESTED) verified to 100% precision.</a:t>
            </a:r>
          </a:p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✓ Dual-Implementation Fidelity: Independent C++ and JavaScript implementations provide both high-performance compiled logic and intuitive visual interaction.</a:t>
            </a:r>
          </a:p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✓ Production-Grade Edge Handling: Complete validation against out-of-bounds queries, negative vehicle numbers, inverted ranges, and exact threshold equality.</a:t>
            </a:r>
          </a:p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✓ Evaluation Ready: Code, documentation, test suite, and presentation are fully prepared for academic viva examination.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2991</Words>
  <Application>Microsoft Office PowerPoint</Application>
  <PresentationFormat>Widescreen</PresentationFormat>
  <Paragraphs>221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Harish Kanna A</cp:lastModifiedBy>
  <cp:revision>1</cp:revision>
  <dcterms:created xsi:type="dcterms:W3CDTF">2013-01-27T09:14:16Z</dcterms:created>
  <dcterms:modified xsi:type="dcterms:W3CDTF">2026-10-26T21:53:44Z</dcterms:modified>
  <cp:category/>
</cp:coreProperties>
</file>